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6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4" r:id="rId6"/>
    <p:sldId id="265" r:id="rId7"/>
    <p:sldId id="266" r:id="rId8"/>
    <p:sldId id="261" r:id="rId9"/>
  </p:sldIdLst>
  <p:sldSz cx="12192000" cy="6858000"/>
  <p:notesSz cx="6858000" cy="9144000"/>
  <p:embeddedFontLst>
    <p:embeddedFont>
      <p:font typeface="Tw Cen MT" panose="020B0602020104020603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1+2dzoTjDvOt+EQkJty264wFg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B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8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06128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572a013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5" name="Google Shape;95;g1f572a013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f572a013c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1f572a013c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572a013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1f572a013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572a013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1" name="Google Shape;111;g1f572a013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572a013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1f572a013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572a013c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1f572a013c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65163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38387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118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91497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985687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209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9706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55261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82488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35751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433000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98912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251582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345080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12589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00327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802206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088020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717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179.0.180.134:10000/login" TargetMode="Externa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810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0332" y="4092034"/>
            <a:ext cx="7239206" cy="751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f572a013c6_0_0"/>
          <p:cNvSpPr txBox="1">
            <a:spLocks noGrp="1"/>
          </p:cNvSpPr>
          <p:nvPr>
            <p:ph idx="1"/>
          </p:nvPr>
        </p:nvSpPr>
        <p:spPr>
          <a:xfrm>
            <a:off x="397785" y="1090710"/>
            <a:ext cx="11137200" cy="42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ES" sz="2400" b="1" dirty="0">
                <a:latin typeface="Times New Roman" pitchFamily="18" charset="0"/>
                <a:cs typeface="Times New Roman" pitchFamily="18" charset="0"/>
              </a:rPr>
              <a:t>Proyecto Federal de Innovación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s-ES" sz="2400" b="1" dirty="0">
                <a:latin typeface="Times New Roman" pitchFamily="18" charset="0"/>
                <a:cs typeface="Times New Roman" pitchFamily="18" charset="0"/>
              </a:rPr>
              <a:t>Diseño y Desarrollo de una Base de Datos para la Gestión Integral de Legajos de Internos en el Servicio Penitenciario de la Provincia de Corrientes</a:t>
            </a:r>
            <a:endParaRPr lang="es-ES" sz="2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s-AR" dirty="0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g1f572a013c6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7" cy="120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1f572a013c6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693" y="6245849"/>
            <a:ext cx="3836637" cy="38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1f572a013c6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3855" y="6163483"/>
            <a:ext cx="3599944" cy="4654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265469"/>
              </p:ext>
            </p:extLst>
          </p:nvPr>
        </p:nvGraphicFramePr>
        <p:xfrm>
          <a:off x="334978" y="3870870"/>
          <a:ext cx="11018821" cy="17068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14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2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01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000" dirty="0">
                          <a:latin typeface="Times New Roman" pitchFamily="18" charset="0"/>
                          <a:cs typeface="Times New Roman" pitchFamily="18" charset="0"/>
                        </a:rPr>
                        <a:t>Equipo de Trabajo</a:t>
                      </a:r>
                      <a:endParaRPr lang="es-AR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0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Becarios </a:t>
                      </a:r>
                      <a:endParaRPr lang="es-AR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Alumno Colaborador</a:t>
                      </a:r>
                      <a:endParaRPr lang="es-ES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0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SPP</a:t>
                      </a:r>
                      <a:endParaRPr lang="es-AR" sz="200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r"/>
                      <a:r>
                        <a:rPr lang="es-AR" sz="2000" b="1" dirty="0">
                          <a:latin typeface="Times New Roman" pitchFamily="18" charset="0"/>
                          <a:cs typeface="Times New Roman" pitchFamily="18" charset="0"/>
                        </a:rPr>
                        <a:t>Directora</a:t>
                      </a:r>
                      <a:r>
                        <a:rPr lang="es-AR" sz="1800" dirty="0">
                          <a:latin typeface="Times New Roman" pitchFamily="18" charset="0"/>
                          <a:cs typeface="Times New Roman" pitchFamily="18" charset="0"/>
                        </a:rPr>
                        <a:t>: Lic. </a:t>
                      </a:r>
                      <a:r>
                        <a:rPr lang="es-AR" sz="1800" dirty="0" err="1">
                          <a:latin typeface="Times New Roman" pitchFamily="18" charset="0"/>
                          <a:cs typeface="Times New Roman" pitchFamily="18" charset="0"/>
                        </a:rPr>
                        <a:t>Podesta</a:t>
                      </a:r>
                      <a:r>
                        <a:rPr lang="es-AR" sz="1800" dirty="0">
                          <a:latin typeface="Times New Roman" pitchFamily="18" charset="0"/>
                          <a:cs typeface="Times New Roman" pitchFamily="18" charset="0"/>
                        </a:rPr>
                        <a:t> Silvina</a:t>
                      </a:r>
                    </a:p>
                    <a:p>
                      <a:pPr algn="r"/>
                      <a:r>
                        <a:rPr lang="es-AR" sz="2000" b="1" dirty="0">
                          <a:latin typeface="Times New Roman" pitchFamily="18" charset="0"/>
                          <a:cs typeface="Times New Roman" pitchFamily="18" charset="0"/>
                        </a:rPr>
                        <a:t>Codirectora</a:t>
                      </a:r>
                      <a:r>
                        <a:rPr lang="es-AR" sz="1800" dirty="0">
                          <a:latin typeface="Times New Roman" pitchFamily="18" charset="0"/>
                          <a:cs typeface="Times New Roman" pitchFamily="18" charset="0"/>
                        </a:rPr>
                        <a:t>: Lic. Escalante </a:t>
                      </a:r>
                      <a:r>
                        <a:rPr lang="es-AR" sz="1800" dirty="0" err="1">
                          <a:latin typeface="Times New Roman" pitchFamily="18" charset="0"/>
                          <a:cs typeface="Times New Roman" pitchFamily="18" charset="0"/>
                        </a:rPr>
                        <a:t>Jaquelina</a:t>
                      </a:r>
                      <a:r>
                        <a:rPr lang="es-AR" sz="18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r"/>
                      <a:r>
                        <a:rPr lang="es-AR" sz="2000" b="1" dirty="0">
                          <a:latin typeface="Times New Roman" pitchFamily="18" charset="0"/>
                          <a:cs typeface="Times New Roman" pitchFamily="18" charset="0"/>
                        </a:rPr>
                        <a:t>Asistente</a:t>
                      </a:r>
                      <a:r>
                        <a:rPr lang="es-AR" sz="1800" dirty="0">
                          <a:latin typeface="Times New Roman" pitchFamily="18" charset="0"/>
                          <a:cs typeface="Times New Roman" pitchFamily="18" charset="0"/>
                        </a:rPr>
                        <a:t>: Lic. </a:t>
                      </a:r>
                      <a:r>
                        <a:rPr lang="es-AR" sz="1800" dirty="0" err="1">
                          <a:latin typeface="Times New Roman" pitchFamily="18" charset="0"/>
                          <a:cs typeface="Times New Roman" pitchFamily="18" charset="0"/>
                        </a:rPr>
                        <a:t>Neuman</a:t>
                      </a:r>
                      <a:r>
                        <a:rPr lang="es-AR" sz="1800" dirty="0">
                          <a:latin typeface="Times New Roman" pitchFamily="18" charset="0"/>
                          <a:cs typeface="Times New Roman" pitchFamily="18" charset="0"/>
                        </a:rPr>
                        <a:t> Patricia</a:t>
                      </a:r>
                      <a:endParaRPr lang="es-AR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/>
                      <a:r>
                        <a:rPr lang="es-AR" sz="1800" kern="12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Falkievich</a:t>
                      </a:r>
                      <a:r>
                        <a:rPr lang="es-AR" sz="18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s-AR" sz="1800" kern="12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Thiago</a:t>
                      </a:r>
                      <a:r>
                        <a:rPr lang="es-AR" sz="18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s-AR" sz="18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rtl="0"/>
                      <a:r>
                        <a:rPr lang="es-AR" sz="18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Suárez Joaquín </a:t>
                      </a:r>
                      <a:endParaRPr lang="es-AR" sz="18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 rtl="0"/>
                      <a:r>
                        <a:rPr lang="es-AR" sz="1800" kern="12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Briend</a:t>
                      </a:r>
                      <a:r>
                        <a:rPr lang="es-AR" sz="18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s-AR" sz="1800" kern="12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Andres</a:t>
                      </a:r>
                      <a:endParaRPr lang="es-AR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kern="12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Scali</a:t>
                      </a:r>
                      <a:r>
                        <a:rPr lang="es-ES" sz="18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Gonzalo</a:t>
                      </a:r>
                      <a:endParaRPr lang="es-AR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s-AR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Alcaide Lic. de los Reyes Leonardo</a:t>
                      </a:r>
                      <a:endParaRPr lang="es-AR" sz="18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s-AR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4B6AA67-BBA0-0F11-ACF8-8C4EE1B3EEA0}"/>
              </a:ext>
            </a:extLst>
          </p:cNvPr>
          <p:cNvSpPr txBox="1"/>
          <p:nvPr/>
        </p:nvSpPr>
        <p:spPr>
          <a:xfrm>
            <a:off x="3224280" y="2815560"/>
            <a:ext cx="5462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RS-2023-143190970-APN-MCT – </a:t>
            </a:r>
            <a:r>
              <a:rPr lang="es-ES" dirty="0" err="1">
                <a:latin typeface="Times New Roman" pitchFamily="18" charset="0"/>
                <a:cs typeface="Times New Roman" pitchFamily="18" charset="0"/>
              </a:rPr>
              <a:t>Disp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 202/24 UCP</a:t>
            </a:r>
            <a:r>
              <a:rPr lang="es-ES" sz="20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s-A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1f572a013c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7" cy="120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1f572a013c6_0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917" y="6305061"/>
            <a:ext cx="3836637" cy="38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1f572a013c6_0_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33276" y="6244292"/>
            <a:ext cx="3599944" cy="4654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732973"/>
              </p:ext>
            </p:extLst>
          </p:nvPr>
        </p:nvGraphicFramePr>
        <p:xfrm>
          <a:off x="262549" y="1509259"/>
          <a:ext cx="11244406" cy="421861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622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2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586">
                <a:tc gridSpan="2">
                  <a:txBody>
                    <a:bodyPr/>
                    <a:lstStyle/>
                    <a:p>
                      <a:pPr algn="ctr"/>
                      <a:r>
                        <a:rPr lang="es-A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Objetivos</a:t>
                      </a:r>
                      <a:endParaRPr lang="es-A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586">
                <a:tc>
                  <a:txBody>
                    <a:bodyPr/>
                    <a:lstStyle/>
                    <a:p>
                      <a:pPr algn="ctr"/>
                      <a:r>
                        <a:rPr lang="es-A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Especifico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70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Implementar una base de datos centralizada y segura para la gestión de los legajos de los internos del Servicio Penitenciario de la Provincia de Corrientes, garantizando el acceso y actualización de la información de manera remota y eficiente desde todos los establecimientos Penitenciarios.</a:t>
                      </a:r>
                    </a:p>
                    <a:p>
                      <a:endParaRPr lang="es-AR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itchFamily="34" charset="0"/>
                        <a:buChar char="•"/>
                      </a:pPr>
                      <a:r>
                        <a:rPr lang="es-A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Analizar los requerimientos y necesidades del Servicio Penitenciario de Corrientes</a:t>
                      </a:r>
                      <a:r>
                        <a:rPr lang="es-AR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en relación a la gestión de los legajos de los internos.</a:t>
                      </a:r>
                    </a:p>
                    <a:p>
                      <a:pPr marL="285750" indent="-285750" algn="just">
                        <a:buFont typeface="Arial" pitchFamily="34" charset="0"/>
                        <a:buChar char="•"/>
                      </a:pPr>
                      <a:r>
                        <a:rPr lang="es-AR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Diseñar la estructura y relaciones de la base de datos considerando los datos relevantes y los requisitos de seguridad y confidencialidad.</a:t>
                      </a:r>
                    </a:p>
                    <a:p>
                      <a:pPr marL="285750" indent="-285750" algn="just">
                        <a:buFont typeface="Arial" pitchFamily="34" charset="0"/>
                        <a:buChar char="•"/>
                      </a:pPr>
                      <a:r>
                        <a:rPr lang="es-AR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Evaluar el impacto y beneficios de la implementación de la base de datos en términos de eficiencia, seguridad y calidad de la gestión de los legajos de los internos</a:t>
                      </a:r>
                      <a:endParaRPr lang="es-AR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1f572a013c6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7" cy="120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1f572a013c6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982892"/>
            <a:ext cx="3836637" cy="38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1f572a013c6_0_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3855" y="5905577"/>
            <a:ext cx="3599944" cy="4654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010667"/>
              </p:ext>
            </p:extLst>
          </p:nvPr>
        </p:nvGraphicFramePr>
        <p:xfrm>
          <a:off x="747663" y="1769867"/>
          <a:ext cx="10388098" cy="400624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19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586">
                <a:tc gridSpan="2">
                  <a:txBody>
                    <a:bodyPr/>
                    <a:lstStyle/>
                    <a:p>
                      <a:pPr algn="ctr"/>
                      <a:r>
                        <a:rPr lang="es-A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Actividades</a:t>
                      </a:r>
                      <a:endParaRPr lang="es-A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586">
                <a:tc>
                  <a:txBody>
                    <a:bodyPr/>
                    <a:lstStyle/>
                    <a:p>
                      <a:pPr algn="ctr"/>
                      <a:r>
                        <a:rPr lang="es-A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 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7071">
                <a:tc>
                  <a:txBody>
                    <a:bodyPr/>
                    <a:lstStyle/>
                    <a:p>
                      <a:pPr lvl="0">
                        <a:buFont typeface="Wingdings" pitchFamily="2" charset="2"/>
                        <a:buChar char="ü"/>
                      </a:pPr>
                      <a:r>
                        <a:rPr lang="es-A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Arranque y alcance</a:t>
                      </a:r>
                    </a:p>
                    <a:p>
                      <a:pPr lvl="0">
                        <a:buFont typeface="Wingdings" pitchFamily="2" charset="2"/>
                        <a:buChar char="ü"/>
                      </a:pPr>
                      <a:r>
                        <a:rPr lang="es-A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Diseño e implementación de la base de datos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ü"/>
                        <a:tabLst/>
                        <a:defRPr/>
                      </a:pPr>
                      <a:r>
                        <a:rPr lang="es-A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Pruebas de rendimiento/robustez</a:t>
                      </a:r>
                    </a:p>
                    <a:p>
                      <a:pPr lvl="0">
                        <a:buFont typeface="Wingdings" pitchFamily="2" charset="2"/>
                        <a:buChar char="ü"/>
                      </a:pPr>
                      <a:r>
                        <a:rPr lang="es-A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Carga y validación con datos reales</a:t>
                      </a:r>
                    </a:p>
                    <a:p>
                      <a:endParaRPr lang="es-AR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s-A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Capacitación y adopción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s-E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Automatizaciones y alertas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es-E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Documentación y comunicación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es-E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Incidencias y mejoras continuas</a:t>
                      </a:r>
                    </a:p>
                    <a:p>
                      <a:endParaRPr lang="es-AR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572a013c6_0_14"/>
          <p:cNvSpPr txBox="1">
            <a:spLocks noGrp="1"/>
          </p:cNvSpPr>
          <p:nvPr>
            <p:ph idx="1"/>
          </p:nvPr>
        </p:nvSpPr>
        <p:spPr>
          <a:xfrm>
            <a:off x="124981" y="1202037"/>
            <a:ext cx="11221500" cy="43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s-AR" sz="2800" b="1" dirty="0"/>
              <a:t>Resultados</a:t>
            </a:r>
            <a:r>
              <a:rPr lang="es-AR" dirty="0">
                <a:solidFill>
                  <a:schemeClr val="accent1"/>
                </a:solidFill>
              </a:rPr>
              <a:t>:  </a:t>
            </a:r>
            <a:r>
              <a:rPr lang="es-AR" dirty="0">
                <a:solidFill>
                  <a:schemeClr val="accent1"/>
                </a:solidFill>
                <a:hlinkClick r:id="rId3"/>
              </a:rPr>
              <a:t>http://179.0.180.134:10000/login</a:t>
            </a:r>
            <a:endParaRPr lang="es-AR" dirty="0">
              <a:solidFill>
                <a:schemeClr val="accent1"/>
              </a:solidFill>
            </a:endParaRPr>
          </a:p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s-AR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14" name="Google Shape;114;g1f572a013c6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1997" cy="120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1f572a013c6_0_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6838" y="6313043"/>
            <a:ext cx="3836637" cy="38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1f572a013c6_0_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95487" y="6275550"/>
            <a:ext cx="3599944" cy="465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6" r="18687" b="13888"/>
          <a:stretch/>
        </p:blipFill>
        <p:spPr bwMode="auto">
          <a:xfrm>
            <a:off x="206426" y="1750701"/>
            <a:ext cx="2792240" cy="2587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0" r="30227" b="12152"/>
          <a:stretch/>
        </p:blipFill>
        <p:spPr bwMode="auto">
          <a:xfrm>
            <a:off x="9569512" y="3429024"/>
            <a:ext cx="2254313" cy="2586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8" r="8292" b="12760"/>
          <a:stretch/>
        </p:blipFill>
        <p:spPr bwMode="auto">
          <a:xfrm>
            <a:off x="3220352" y="1910280"/>
            <a:ext cx="5959862" cy="4150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13 Grupo"/>
          <p:cNvGrpSpPr/>
          <p:nvPr/>
        </p:nvGrpSpPr>
        <p:grpSpPr>
          <a:xfrm>
            <a:off x="6853475" y="604190"/>
            <a:ext cx="5241956" cy="2440104"/>
            <a:chOff x="0" y="755963"/>
            <a:chExt cx="12330820" cy="4323031"/>
          </a:xfrm>
        </p:grpSpPr>
        <p:pic>
          <p:nvPicPr>
            <p:cNvPr id="15" name="Picture 6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9" t="-16509" r="-1089" b="64364"/>
            <a:stretch/>
          </p:blipFill>
          <p:spPr bwMode="auto">
            <a:xfrm>
              <a:off x="0" y="755963"/>
              <a:ext cx="12330820" cy="36168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2"/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149" b="4158"/>
            <a:stretch/>
          </p:blipFill>
          <p:spPr bwMode="auto">
            <a:xfrm>
              <a:off x="0" y="4345662"/>
              <a:ext cx="12192000" cy="733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4" name="Picture 10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93" r="20395" b="14587"/>
          <a:stretch/>
        </p:blipFill>
        <p:spPr bwMode="auto">
          <a:xfrm>
            <a:off x="307817" y="4114551"/>
            <a:ext cx="2589459" cy="2680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992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1f572a013c6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7" cy="120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1f572a013c6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525" y="6278839"/>
            <a:ext cx="3836637" cy="38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1f572a013c6_0_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7301" y="6392543"/>
            <a:ext cx="3599944" cy="4654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2 Tabla">
            <a:extLst>
              <a:ext uri="{FF2B5EF4-FFF2-40B4-BE49-F238E27FC236}">
                <a16:creationId xmlns:a16="http://schemas.microsoft.com/office/drawing/2014/main" id="{0A287E7E-F0EA-1773-A3FB-65CDBCE4C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810813"/>
              </p:ext>
            </p:extLst>
          </p:nvPr>
        </p:nvGraphicFramePr>
        <p:xfrm>
          <a:off x="665033" y="1208381"/>
          <a:ext cx="10576236" cy="484759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288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8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08">
                <a:tc gridSpan="2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s-AR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es-AR" sz="2400" b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Impacto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r>
                        <a:rPr lang="es-AR" sz="2400" b="1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Futuras acciones de transferencia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9391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AR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Moderniza la gestión: trazabilidad y consistencia de datos.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AR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 tiempos (≥30%) y errores/duplicados (≥50%).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AR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Alertas automáticas: vencimientos, traslados, auditorías.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AR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Disponibilidad y continuidad (≥99% horario hábil).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AR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Capacitación por áreas; mejora en garantías de derecho.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ES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Mejora de SNEEP/SNNEP – estadísticas:</a:t>
                      </a:r>
                      <a:endParaRPr lang="es-AR" sz="22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s-AR" sz="2400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AR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Paquete tecnológico: esquema/scripts BD, módulo de alertas, manuales.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AR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Talleres por perfiles + refrescos; mesa de ayuda con SLA.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AR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Tablero de indicadores y protocolo de calidad de datos.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s-AR" sz="2200" noProof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Interoperabilidad y protección de datos (Ley 25.326).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816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572a013c6_0_14"/>
          <p:cNvSpPr txBox="1">
            <a:spLocks noGrp="1"/>
          </p:cNvSpPr>
          <p:nvPr>
            <p:ph idx="1"/>
          </p:nvPr>
        </p:nvSpPr>
        <p:spPr>
          <a:xfrm>
            <a:off x="559525" y="1392150"/>
            <a:ext cx="11221500" cy="459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AR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Conclusiones:</a:t>
            </a:r>
          </a:p>
          <a:p>
            <a:pPr marL="0" indent="0" algn="just">
              <a:buNone/>
            </a:pPr>
            <a:r>
              <a:rPr lang="es-E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logro consolidar una base única y confiable de legajos que ordena la información, reduce tiempos y errores, y cuenta con alertas a tiempo para tareas sensibles. </a:t>
            </a:r>
          </a:p>
          <a:p>
            <a:pPr marL="0" indent="0" algn="just">
              <a:buNone/>
            </a:pPr>
            <a:r>
              <a:rPr lang="es-E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ya se traduce en una gestión más ágil y en mejores datos para la toma de decisiones, incluida la mejora en la calidad y oportunidad de las estadísticas SNEEP/SNNEP. </a:t>
            </a:r>
          </a:p>
          <a:p>
            <a:pPr marL="0" indent="0" algn="just">
              <a:buNone/>
            </a:pPr>
            <a:r>
              <a:rPr lang="es-E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participación de becarios y docentes facilitó un desarrollo interdisciplinario con impacto social y educativo</a:t>
            </a:r>
          </a:p>
          <a:p>
            <a:pPr marL="0" indent="0" algn="just">
              <a:buNone/>
            </a:pPr>
            <a:r>
              <a:rPr lang="es-E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 queda finalizar con las mejoras y empezar a realizar las tareas de transferencia que consistirá en empaquetar y entregar, de manera simple, los materiales finales, dejar en marcha el esquema de soporte e interoperabilidad. Con esa última etapa, el SPP contará con autonomía para operar y mejorar el sistema de acuerdo a nuevas necesidades.</a:t>
            </a:r>
            <a:endParaRPr lang="es-AR" sz="19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4" name="Google Shape;114;g1f572a013c6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7" cy="120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1f572a013c6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5982892"/>
            <a:ext cx="3836637" cy="38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1f572a013c6_0_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3855" y="5905577"/>
            <a:ext cx="3599944" cy="4654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1259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252</TotalTime>
  <Words>500</Words>
  <Application>Microsoft Office PowerPoint</Application>
  <PresentationFormat>Panorámica</PresentationFormat>
  <Paragraphs>52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Times New Roman</vt:lpstr>
      <vt:lpstr>Wingdings</vt:lpstr>
      <vt:lpstr>Arial</vt:lpstr>
      <vt:lpstr>Tw Cen MT</vt:lpstr>
      <vt:lpstr>Gota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Marketing UCP</dc:creator>
  <cp:lastModifiedBy>Silvina</cp:lastModifiedBy>
  <cp:revision>31</cp:revision>
  <dcterms:created xsi:type="dcterms:W3CDTF">2024-01-24T14:30:03Z</dcterms:created>
  <dcterms:modified xsi:type="dcterms:W3CDTF">2025-10-03T14:48:12Z</dcterms:modified>
</cp:coreProperties>
</file>